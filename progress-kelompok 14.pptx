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2" r:id="rId1"/>
  </p:sldMasterIdLst>
  <p:notesMasterIdLst>
    <p:notesMasterId r:id="rId11"/>
  </p:notes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</p:sldIdLst>
  <p:sldSz cx="9144000" cy="5143500" type="screen16x9"/>
  <p:notesSz cx="51435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embuka" id="{53569764-3B44-0A5F-37E6-CA8F570AC25C}">
          <p14:sldIdLst>
            <p14:sldId id="256"/>
          </p14:sldIdLst>
        </p14:section>
        <p14:section name="Masalah" id="{0B73A3F5-61CC-45C1-F266-B845EE22E4D0}">
          <p14:sldIdLst>
            <p14:sldId id="257"/>
            <p14:sldId id="258"/>
          </p14:sldIdLst>
        </p14:section>
        <p14:section name="Solusi" id="{D11CFEA4-C84D-2780-4374-DB9AEF83FA04}">
          <p14:sldIdLst>
            <p14:sldId id="260"/>
            <p14:sldId id="261"/>
            <p14:sldId id="262"/>
          </p14:sldIdLst>
        </p14:section>
        <p14:section name="Progres" id="{6D239BCF-73D5-CBEF-4CD5-E3D3B9EA1D43}">
          <p14:sldIdLst>
            <p14:sldId id="263"/>
            <p14:sldId id="264"/>
          </p14:sldIdLst>
        </p14:section>
        <p14:section name="Penutup" id="{E3F9E94D-9181-5D05-BB86-BE9220920606}">
          <p14:sldIdLst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50" d="100"/>
          <a:sy n="50" d="100"/>
        </p:scale>
        <p:origin x="112" y="6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270117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Perkenalan singkat: nama project, kelompok, dan konteksnya (sistem ujian IMKP di RU II Dumai yang sudah kami bangun waktu KP).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Jelaskan bahwa sistem ujiannya sudah ada. Fokus project ini ada di bank soal.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Tiga masalah utama, lalu dampaknya ke tujuan keselamatan.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Jelaskan alur dari kiri ke kanan. Tekankan sitasi sumber dan review manusia.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Satu tujuan utama, empat tujuan khusus. Target pengukurannya ada di slide setelah progress.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Sebagian besar stack sudah dikuasai dari KP. Yang baru: chunking, embedding, dan pencarian vektor.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M1 sudah selesai. Milestone berikutnya mengikuti backlog: desain di minggu 2, prototype minggu 4, integrasi minggu 6, testing minggu 7, final demo minggu 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Semua target bisa dibuktikan lewat demo atau pengujian, bukan sekadar sistem sudah jadi.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Tutup dan buka sesi tanya jawab.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6350"/>
            <a:ext cx="9144000" cy="5149850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300" y="1803400"/>
            <a:ext cx="5825202" cy="1234727"/>
          </a:xfrm>
        </p:spPr>
        <p:txBody>
          <a:bodyPr anchor="b">
            <a:noAutofit/>
          </a:bodyPr>
          <a:lstStyle>
            <a:lvl1pPr algn="r">
              <a:defRPr sz="405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300" y="3038125"/>
            <a:ext cx="5825202" cy="822674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5382228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7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3063251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2025651"/>
            <a:ext cx="6447501" cy="1369936"/>
          </a:xfrm>
        </p:spPr>
        <p:txBody>
          <a:bodyPr anchor="b"/>
          <a:lstStyle>
            <a:lvl1pPr algn="l">
              <a:defRPr sz="3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645300"/>
          </a:xfrm>
        </p:spPr>
        <p:txBody>
          <a:bodyPr anchor="t"/>
          <a:lstStyle>
            <a:lvl1pPr marL="0" indent="0" algn="l"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2100910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8001" y="1620442"/>
            <a:ext cx="3138026" cy="29105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17477" y="1620442"/>
            <a:ext cx="3138026" cy="29105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dirty="0"/>
              <a:t>10/22/2026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464288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6809" y="1620737"/>
            <a:ext cx="3139217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6809" y="2052934"/>
            <a:ext cx="3139217" cy="24780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16287" y="1620737"/>
            <a:ext cx="3139214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16288" y="2052934"/>
            <a:ext cx="3139213" cy="24780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8048470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6447501" cy="9906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9488258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10/22/2026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1800592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1123953"/>
            <a:ext cx="2890896" cy="958850"/>
          </a:xfrm>
        </p:spPr>
        <p:txBody>
          <a:bodyPr anchor="b">
            <a:normAutofit/>
          </a:bodyPr>
          <a:lstStyle>
            <a:lvl1pPr>
              <a:defRPr sz="1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0346" y="386193"/>
            <a:ext cx="3385156" cy="41448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8001" y="2082802"/>
            <a:ext cx="2890896" cy="1938337"/>
          </a:xfrm>
        </p:spPr>
        <p:txBody>
          <a:bodyPr>
            <a:normAutofit/>
          </a:bodyPr>
          <a:lstStyle>
            <a:lvl1pPr marL="0" indent="0">
              <a:buNone/>
              <a:defRPr sz="1050"/>
            </a:lvl1pPr>
            <a:lvl2pPr marL="342797" indent="0">
              <a:buNone/>
              <a:defRPr sz="1050"/>
            </a:lvl2pPr>
            <a:lvl3pPr marL="685595" indent="0">
              <a:buNone/>
              <a:defRPr sz="900"/>
            </a:lvl3pPr>
            <a:lvl4pPr marL="1028392" indent="0">
              <a:buNone/>
              <a:defRPr sz="750"/>
            </a:lvl4pPr>
            <a:lvl5pPr marL="1371188" indent="0">
              <a:buNone/>
              <a:defRPr sz="750"/>
            </a:lvl5pPr>
            <a:lvl6pPr marL="1713986" indent="0">
              <a:buNone/>
              <a:defRPr sz="750"/>
            </a:lvl6pPr>
            <a:lvl7pPr marL="2056783" indent="0">
              <a:buNone/>
              <a:defRPr sz="750"/>
            </a:lvl7pPr>
            <a:lvl8pPr marL="2399580" indent="0">
              <a:buNone/>
              <a:defRPr sz="750"/>
            </a:lvl8pPr>
            <a:lvl9pPr marL="2742377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10/22/2026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6959824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3600450"/>
            <a:ext cx="6447500" cy="425054"/>
          </a:xfrm>
        </p:spPr>
        <p:txBody>
          <a:bodyPr anchor="b">
            <a:normAutofit/>
          </a:bodyPr>
          <a:lstStyle>
            <a:lvl1pPr algn="l">
              <a:defRPr sz="1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08001" y="457200"/>
            <a:ext cx="6447501" cy="2884289"/>
          </a:xfrm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8001" y="4025504"/>
            <a:ext cx="6447500" cy="505518"/>
          </a:xfrm>
        </p:spPr>
        <p:txBody>
          <a:bodyPr>
            <a:normAutofit/>
          </a:bodyPr>
          <a:lstStyle>
            <a:lvl1pPr marL="0" indent="0">
              <a:buNone/>
              <a:defRPr sz="9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593855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6447501" cy="255270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52800"/>
            <a:ext cx="6447501" cy="1178222"/>
          </a:xfrm>
        </p:spPr>
        <p:txBody>
          <a:bodyPr anchor="ctr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8057139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8500" y="457200"/>
            <a:ext cx="6070601" cy="226695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24604" y="2724150"/>
            <a:ext cx="5418393" cy="28575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52800"/>
            <a:ext cx="6447501" cy="1178222"/>
          </a:xfrm>
        </p:spPr>
        <p:txBody>
          <a:bodyPr anchor="ctr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406403" y="592784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69758" y="2164917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sz="1350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75846339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1448991"/>
            <a:ext cx="6447501" cy="1946595"/>
          </a:xfrm>
        </p:spPr>
        <p:txBody>
          <a:bodyPr anchor="b">
            <a:normAutofit/>
          </a:bodyPr>
          <a:lstStyle>
            <a:lvl1pPr algn="l">
              <a:defRPr sz="33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1135436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1169812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8500" y="457200"/>
            <a:ext cx="6070601" cy="226695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07999" y="3009900"/>
            <a:ext cx="6447502" cy="385686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1135436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06403" y="592784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69758" y="2164917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511912956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0" y="457200"/>
            <a:ext cx="6441152" cy="226695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07999" y="3009900"/>
            <a:ext cx="6447502" cy="385686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800">
                <a:solidFill>
                  <a:schemeClr val="accent1"/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1135436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3245814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10/22/2026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2515713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5755" y="457200"/>
            <a:ext cx="978557" cy="3938588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8001" y="457200"/>
            <a:ext cx="5295113" cy="393858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7068194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>
            <a:spLocks noGrp="1"/>
          </p:cNvSpPr>
          <p:nvPr>
            <p:ph type="title" idx="103" hasCustomPrompt="1"/>
          </p:nvPr>
        </p:nvSpPr>
        <p:spPr>
          <a:xfrm>
            <a:off x="548640" y="1234440"/>
            <a:ext cx="676656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38903170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400" b="1" dirty="0">
                <a:solidFill>
                  <a:schemeClr val="tx2"/>
                </a:solidFill>
              </a:defRPr>
            </a:lvl1pPr>
          </a:lstStyle>
          <a:p>
            <a:pPr marL="0" indent="0" algn="l">
              <a:buNone/>
            </a:pP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2744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9363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6350"/>
            <a:ext cx="9144000" cy="5149850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6447501" cy="9906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1620442"/>
            <a:ext cx="6447501" cy="29105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3850" y="4531022"/>
            <a:ext cx="683954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10/22/2026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08001" y="4531022"/>
            <a:ext cx="472320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2998" y="4531022"/>
            <a:ext cx="512504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41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54" r:id="rId2"/>
    <p:sldLayoutId id="2147483655" r:id="rId3"/>
    <p:sldLayoutId id="2147483656" r:id="rId4"/>
    <p:sldLayoutId id="2147483657" r:id="rId5"/>
    <p:sldLayoutId id="2147483658" r:id="rId6"/>
    <p:sldLayoutId id="2147483659" r:id="rId7"/>
    <p:sldLayoutId id="2147483660" r:id="rId8"/>
    <p:sldLayoutId id="2147483661" r:id="rId9"/>
    <p:sldLayoutId id="2147483662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68" r:id="rId16"/>
    <p:sldLayoutId id="2147483669" r:id="rId17"/>
    <p:sldLayoutId id="2147483670" r:id="rId18"/>
  </p:sldLayoutIdLst>
  <p:hf sldNum="0" hdr="0" ftr="0" dt="0"/>
  <p:txStyles>
    <p:titleStyle>
      <a:lvl1pPr algn="l" defTabSz="342900" rtl="0" eaLnBrk="1" latinLnBrk="0" hangingPunct="1">
        <a:spcBef>
          <a:spcPct val="0"/>
        </a:spcBef>
        <a:buNone/>
        <a:defRPr sz="27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57175" indent="-257175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3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57213" indent="-214313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572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001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430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182880" y="145582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CAPSTONE  |  KELOMPOK 14  |   7B</a:t>
            </a:r>
            <a:endParaRPr lang="en-US" sz="1200" dirty="0">
              <a:solidFill>
                <a:schemeClr val="bg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>
            <a:spLocks noGrp="1"/>
          </p:cNvSpPr>
          <p:nvPr>
            <p:ph type="title" idx="103"/>
          </p:nvPr>
        </p:nvSpPr>
        <p:spPr>
          <a:xfrm>
            <a:off x="458403" y="1716237"/>
            <a:ext cx="6766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Generator Soal </a:t>
            </a:r>
            <a:r>
              <a:rPr lang="en-US" sz="3200" b="1" dirty="0" err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Ujian</a:t>
            </a:r>
            <a:r>
              <a:rPr lang="id-ID" sz="32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Teori </a:t>
            </a:r>
            <a:r>
              <a:rPr lang="en-US" sz="3200" b="1" dirty="0" err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Berkendara</a:t>
            </a:r>
            <a:r>
              <a:rPr lang="id-ID" sz="32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dengan</a:t>
            </a:r>
            <a:r>
              <a:rPr lang="en-US" sz="32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LLM dan RAG</a:t>
            </a:r>
            <a:endParaRPr lang="en-US" sz="3200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Anggota"/>
          <p:cNvSpPr txBox="1"/>
          <p:nvPr/>
        </p:nvSpPr>
        <p:spPr>
          <a:xfrm>
            <a:off x="548640" y="3063240"/>
            <a:ext cx="6586086" cy="336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Dwi Nabila Dhiya Ulhaq </a:t>
            </a:r>
            <a:r>
              <a:rPr lang="id-ID" sz="16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233510384)</a:t>
            </a:r>
            <a:r>
              <a:rPr lang="id-ID" sz="16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|  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Tasya Mulyani (233510145)</a:t>
            </a:r>
          </a:p>
        </p:txBody>
      </p:sp>
      <p:sp>
        <p:nvSpPr>
          <p:cNvPr id="8" name="Kicker">
            <a:extLst>
              <a:ext uri="{FF2B5EF4-FFF2-40B4-BE49-F238E27FC236}">
                <a16:creationId xmlns:a16="http://schemas.microsoft.com/office/drawing/2014/main" id="{7A3B9971-F909-35C0-BD4F-936DEB28B4E5}"/>
              </a:ext>
            </a:extLst>
          </p:cNvPr>
          <p:cNvSpPr txBox="1"/>
          <p:nvPr/>
        </p:nvSpPr>
        <p:spPr>
          <a:xfrm>
            <a:off x="2592003" y="4783355"/>
            <a:ext cx="395999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id-ID" sz="1200" b="1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Teknik Informatika, Universitas Islam Riau 2026</a:t>
            </a:r>
            <a:endParaRPr lang="en-US" sz="1200" dirty="0">
              <a:solidFill>
                <a:schemeClr val="bg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/>
          </p:nvPr>
        </p:nvSpPr>
        <p:spPr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Latar belakang</a:t>
            </a:r>
            <a:endParaRPr lang="en-US" sz="3600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2744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fld>
            <a:endParaRPr lang="en-US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Poin latar belakang"/>
          <p:cNvSpPr txBox="1"/>
          <p:nvPr/>
        </p:nvSpPr>
        <p:spPr>
          <a:xfrm>
            <a:off x="548640" y="1417320"/>
            <a:ext cx="44805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just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Siapa pun yang mengemudi di kawasan kilang RU II Dumai harus punya IMKP, dan IMKP baru terbit setelah lulus ujian teori.</a:t>
            </a:r>
          </a:p>
          <a:p>
            <a:pPr marL="342900" indent="-342900" algn="just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Sistem ujian onlinenya sudah kami bangun saat KP dengan ASP.NET Core dan SQL Server.</a:t>
            </a:r>
          </a:p>
          <a:p>
            <a:pPr marL="342900" indent="-342900" algn="just">
              <a:buSzPct val="100000"/>
              <a:buChar char="•"/>
            </a:pPr>
            <a:r>
              <a:rPr lang="en-US" sz="16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Yang masih tertinggal adalah bank soalnya: seluruhnya masih ditulis manual oleh tim Checkpoint.</a:t>
            </a:r>
          </a:p>
        </p:txBody>
      </p:sp>
      <p:sp>
        <p:nvSpPr>
          <p:cNvPr id="4" name="Kartu alur ujian"/>
          <p:cNvSpPr/>
          <p:nvPr/>
        </p:nvSpPr>
        <p:spPr>
          <a:xfrm>
            <a:off x="5394960" y="1371600"/>
            <a:ext cx="3200400" cy="3108960"/>
          </a:xfrm>
          <a:prstGeom prst="roundRect">
            <a:avLst>
              <a:gd name="adj" fmla="val 2353"/>
            </a:avLst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Judul alur"/>
          <p:cNvSpPr txBox="1"/>
          <p:nvPr/>
        </p:nvSpPr>
        <p:spPr>
          <a:xfrm>
            <a:off x="5623560" y="15544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Alur ujian yang sudah jalan</a:t>
            </a:r>
            <a:endParaRPr lang="en-US" sz="1400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Nomor alur 1"/>
          <p:cNvSpPr txBox="1"/>
          <p:nvPr/>
        </p:nvSpPr>
        <p:spPr>
          <a:xfrm>
            <a:off x="5623560" y="2057400"/>
            <a:ext cx="365760" cy="36576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US" sz="1400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Langkah alur 1"/>
          <p:cNvSpPr txBox="1"/>
          <p:nvPr/>
        </p:nvSpPr>
        <p:spPr>
          <a:xfrm>
            <a:off x="6126480" y="20574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Vendor mendaftarkan peserta</a:t>
            </a:r>
          </a:p>
        </p:txBody>
      </p:sp>
      <p:sp>
        <p:nvSpPr>
          <p:cNvPr id="8" name="Nomor alur 2"/>
          <p:cNvSpPr txBox="1"/>
          <p:nvPr/>
        </p:nvSpPr>
        <p:spPr>
          <a:xfrm>
            <a:off x="5623560" y="2642616"/>
            <a:ext cx="365760" cy="36576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US" sz="1400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Langkah alur 2"/>
          <p:cNvSpPr txBox="1"/>
          <p:nvPr/>
        </p:nvSpPr>
        <p:spPr>
          <a:xfrm>
            <a:off x="6126480" y="2642616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Peserta menerima OTP</a:t>
            </a:r>
          </a:p>
        </p:txBody>
      </p:sp>
      <p:sp>
        <p:nvSpPr>
          <p:cNvPr id="10" name="Nomor alur 3"/>
          <p:cNvSpPr txBox="1"/>
          <p:nvPr/>
        </p:nvSpPr>
        <p:spPr>
          <a:xfrm>
            <a:off x="5623560" y="3227832"/>
            <a:ext cx="365760" cy="36576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en-US" sz="1400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Langkah alur 3"/>
          <p:cNvSpPr txBox="1"/>
          <p:nvPr/>
        </p:nvSpPr>
        <p:spPr>
          <a:xfrm>
            <a:off x="6126480" y="3227832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Mengerjakan ujian online</a:t>
            </a:r>
          </a:p>
        </p:txBody>
      </p:sp>
      <p:sp>
        <p:nvSpPr>
          <p:cNvPr id="12" name="Nomor alur 4"/>
          <p:cNvSpPr txBox="1"/>
          <p:nvPr/>
        </p:nvSpPr>
        <p:spPr>
          <a:xfrm>
            <a:off x="5623560" y="3813048"/>
            <a:ext cx="365760" cy="36576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en-US" sz="1400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Langkah alur 4"/>
          <p:cNvSpPr txBox="1"/>
          <p:nvPr/>
        </p:nvSpPr>
        <p:spPr>
          <a:xfrm>
            <a:off x="6126480" y="381304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Skor dan status lulus keluar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/>
          </p:nvPr>
        </p:nvSpPr>
        <p:spPr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Masalah di bank soal</a:t>
            </a:r>
            <a:endParaRPr lang="en-US" sz="3400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2744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>
                <a:latin typeface="Times New Roman" panose="02020603050405020304" pitchFamily="18" charset="0"/>
                <a:cs typeface="Times New Roman" panose="02020603050405020304" pitchFamily="18" charset="0"/>
              </a:rPr>
              <a:pPr algn="r"/>
              <a:t>3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Kartu masalah 1"/>
          <p:cNvSpPr/>
          <p:nvPr/>
        </p:nvSpPr>
        <p:spPr>
          <a:xfrm>
            <a:off x="548640" y="1371600"/>
            <a:ext cx="2560320" cy="2606040"/>
          </a:xfrm>
          <a:prstGeom prst="roundRect">
            <a:avLst>
              <a:gd name="adj" fmla="val 2857"/>
            </a:avLst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Nomor masalah 1"/>
          <p:cNvSpPr txBox="1"/>
          <p:nvPr/>
        </p:nvSpPr>
        <p:spPr>
          <a:xfrm>
            <a:off x="731520" y="155448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Judul masalah 1"/>
          <p:cNvSpPr txBox="1"/>
          <p:nvPr/>
        </p:nvSpPr>
        <p:spPr>
          <a:xfrm>
            <a:off x="731520" y="21031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Soal ditulis manual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Isi masalah 1"/>
          <p:cNvSpPr txBox="1"/>
          <p:nvPr/>
        </p:nvSpPr>
        <p:spPr>
          <a:xfrm>
            <a:off x="731520" y="2743200"/>
            <a:ext cx="21945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Tim Checkpoint menyusun soal sendiri. Butuh waktu dan tenaga, hasilnya terbatas dan sering berulang.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Kartu masalah 2"/>
          <p:cNvSpPr/>
          <p:nvPr/>
        </p:nvSpPr>
        <p:spPr>
          <a:xfrm>
            <a:off x="3291840" y="1371600"/>
            <a:ext cx="2560320" cy="2606040"/>
          </a:xfrm>
          <a:prstGeom prst="roundRect">
            <a:avLst>
              <a:gd name="adj" fmla="val 2857"/>
            </a:avLst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Nomor masalah 2"/>
          <p:cNvSpPr txBox="1"/>
          <p:nvPr/>
        </p:nvSpPr>
        <p:spPr>
          <a:xfrm>
            <a:off x="3474720" y="155448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Judul masalah 2"/>
          <p:cNvSpPr txBox="1"/>
          <p:nvPr/>
        </p:nvSpPr>
        <p:spPr>
          <a:xfrm>
            <a:off x="3474720" y="21031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Tidak ada rujukan aturan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Isi masalah 2"/>
          <p:cNvSpPr txBox="1"/>
          <p:nvPr/>
        </p:nvSpPr>
        <p:spPr>
          <a:xfrm>
            <a:off x="3474720" y="2743200"/>
            <a:ext cx="21945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Soal tidak tertaut ke dokumen peraturan, jadi reviewer sulit mengecek apakah isinya sesuai.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Kartu masalah 3"/>
          <p:cNvSpPr/>
          <p:nvPr/>
        </p:nvSpPr>
        <p:spPr>
          <a:xfrm>
            <a:off x="6035040" y="1371600"/>
            <a:ext cx="2560320" cy="2606040"/>
          </a:xfrm>
          <a:prstGeom prst="roundRect">
            <a:avLst>
              <a:gd name="adj" fmla="val 2857"/>
            </a:avLst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Nomor masalah 3"/>
          <p:cNvSpPr txBox="1"/>
          <p:nvPr/>
        </p:nvSpPr>
        <p:spPr>
          <a:xfrm>
            <a:off x="6217920" y="155448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Judul masalah 3"/>
          <p:cNvSpPr txBox="1"/>
          <p:nvPr/>
        </p:nvSpPr>
        <p:spPr>
          <a:xfrm>
            <a:off x="6217920" y="21031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Belum ada cek otomatis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Isi masalah 3"/>
          <p:cNvSpPr txBox="1"/>
          <p:nvPr/>
        </p:nvSpPr>
        <p:spPr>
          <a:xfrm>
            <a:off x="6217920" y="2743200"/>
            <a:ext cx="21945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Format, soal kembar, dan kecocokan kunci jawaban belum diperiksa sebelum sampai ke reviewer.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Dampak"/>
          <p:cNvSpPr txBox="1"/>
          <p:nvPr/>
        </p:nvSpPr>
        <p:spPr>
          <a:xfrm>
            <a:off x="620829" y="4114800"/>
            <a:ext cx="6008571" cy="368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Dampaknya: lulus ujian belum tentu berarti pengemudi benar-benar paham aturan keselamatan.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/>
          </p:nvPr>
        </p:nvSpPr>
        <p:spPr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Solusi: soal dari peraturan</a:t>
            </a:r>
            <a:endParaRPr lang="en-US" sz="3400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2744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Kotak alur 1"/>
          <p:cNvSpPr/>
          <p:nvPr/>
        </p:nvSpPr>
        <p:spPr>
          <a:xfrm>
            <a:off x="548640" y="1371600"/>
            <a:ext cx="1426464" cy="1737360"/>
          </a:xfrm>
          <a:prstGeom prst="roundRect">
            <a:avLst>
              <a:gd name="adj" fmla="val 5128"/>
            </a:avLst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Nomor langkah 1"/>
          <p:cNvSpPr txBox="1"/>
          <p:nvPr/>
        </p:nvSpPr>
        <p:spPr>
          <a:xfrm>
            <a:off x="685800" y="1508760"/>
            <a:ext cx="365760" cy="36576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ks langkah 1"/>
          <p:cNvSpPr txBox="1"/>
          <p:nvPr/>
        </p:nvSpPr>
        <p:spPr>
          <a:xfrm>
            <a:off x="685800" y="2011680"/>
            <a:ext cx="11704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Unggah PDF peraturan per refinery unit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Panah 1"/>
          <p:cNvSpPr/>
          <p:nvPr/>
        </p:nvSpPr>
        <p:spPr>
          <a:xfrm>
            <a:off x="1993392" y="2240280"/>
            <a:ext cx="192024" cy="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7" name="Kotak alur 2"/>
          <p:cNvSpPr/>
          <p:nvPr/>
        </p:nvSpPr>
        <p:spPr>
          <a:xfrm>
            <a:off x="2203704" y="1371600"/>
            <a:ext cx="1426464" cy="1737360"/>
          </a:xfrm>
          <a:prstGeom prst="roundRect">
            <a:avLst>
              <a:gd name="adj" fmla="val 5128"/>
            </a:avLst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Nomor langkah 2"/>
          <p:cNvSpPr txBox="1"/>
          <p:nvPr/>
        </p:nvSpPr>
        <p:spPr>
          <a:xfrm>
            <a:off x="2340864" y="1508760"/>
            <a:ext cx="365760" cy="36576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ks langkah 2"/>
          <p:cNvSpPr txBox="1"/>
          <p:nvPr/>
        </p:nvSpPr>
        <p:spPr>
          <a:xfrm>
            <a:off x="2340864" y="2011680"/>
            <a:ext cx="11704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Potong teks dan buat embedding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Panah 2"/>
          <p:cNvSpPr/>
          <p:nvPr/>
        </p:nvSpPr>
        <p:spPr>
          <a:xfrm>
            <a:off x="3648456" y="2240280"/>
            <a:ext cx="192024" cy="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11" name="Kotak alur 3"/>
          <p:cNvSpPr/>
          <p:nvPr/>
        </p:nvSpPr>
        <p:spPr>
          <a:xfrm>
            <a:off x="3858768" y="1371600"/>
            <a:ext cx="1426464" cy="1737360"/>
          </a:xfrm>
          <a:prstGeom prst="roundRect">
            <a:avLst>
              <a:gd name="adj" fmla="val 5128"/>
            </a:avLst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Nomor langkah 3"/>
          <p:cNvSpPr txBox="1"/>
          <p:nvPr/>
        </p:nvSpPr>
        <p:spPr>
          <a:xfrm>
            <a:off x="3995928" y="1508760"/>
            <a:ext cx="365760" cy="36576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ks langkah 3"/>
          <p:cNvSpPr txBox="1"/>
          <p:nvPr/>
        </p:nvSpPr>
        <p:spPr>
          <a:xfrm>
            <a:off x="3995928" y="2011680"/>
            <a:ext cx="11704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Ambil potongan yang paling relevan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Panah 3"/>
          <p:cNvSpPr/>
          <p:nvPr/>
        </p:nvSpPr>
        <p:spPr>
          <a:xfrm>
            <a:off x="5303520" y="2240280"/>
            <a:ext cx="192024" cy="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15" name="Kotak alur 4"/>
          <p:cNvSpPr/>
          <p:nvPr/>
        </p:nvSpPr>
        <p:spPr>
          <a:xfrm>
            <a:off x="5513832" y="1371600"/>
            <a:ext cx="1426464" cy="1737360"/>
          </a:xfrm>
          <a:prstGeom prst="roundRect">
            <a:avLst>
              <a:gd name="adj" fmla="val 5128"/>
            </a:avLst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Nomor langkah 4"/>
          <p:cNvSpPr txBox="1"/>
          <p:nvPr/>
        </p:nvSpPr>
        <p:spPr>
          <a:xfrm>
            <a:off x="5650992" y="1508760"/>
            <a:ext cx="365760" cy="36576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ks langkah 4"/>
          <p:cNvSpPr txBox="1"/>
          <p:nvPr/>
        </p:nvSpPr>
        <p:spPr>
          <a:xfrm>
            <a:off x="5650992" y="2011680"/>
            <a:ext cx="11704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LLM lokal buat soal, kunci, dan sitasi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Panah 4"/>
          <p:cNvSpPr/>
          <p:nvPr/>
        </p:nvSpPr>
        <p:spPr>
          <a:xfrm>
            <a:off x="6958584" y="2240280"/>
            <a:ext cx="192024" cy="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19" name="Kotak alur 5"/>
          <p:cNvSpPr/>
          <p:nvPr/>
        </p:nvSpPr>
        <p:spPr>
          <a:xfrm>
            <a:off x="7168896" y="1371600"/>
            <a:ext cx="1426464" cy="1737360"/>
          </a:xfrm>
          <a:prstGeom prst="roundRect">
            <a:avLst>
              <a:gd name="adj" fmla="val 5128"/>
            </a:avLst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Nomor langkah 5"/>
          <p:cNvSpPr txBox="1"/>
          <p:nvPr/>
        </p:nvSpPr>
        <p:spPr>
          <a:xfrm>
            <a:off x="7306056" y="1508760"/>
            <a:ext cx="365760" cy="36576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ks langkah 5"/>
          <p:cNvSpPr txBox="1"/>
          <p:nvPr/>
        </p:nvSpPr>
        <p:spPr>
          <a:xfrm>
            <a:off x="7306056" y="2011680"/>
            <a:ext cx="11704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Cek otomatis, lalu review manusia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Kartu hasil"/>
          <p:cNvSpPr/>
          <p:nvPr/>
        </p:nvSpPr>
        <p:spPr>
          <a:xfrm>
            <a:off x="548640" y="3429000"/>
            <a:ext cx="8046720" cy="960120"/>
          </a:xfrm>
          <a:prstGeom prst="roundRect">
            <a:avLst>
              <a:gd name="adj" fmla="val 7619"/>
            </a:avLst>
          </a:prstGeom>
          <a:solidFill>
            <a:schemeClr val="accent1">
              <a:lumMod val="50000"/>
            </a:schemeClr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3" name="Teks hasil"/>
          <p:cNvSpPr txBox="1"/>
          <p:nvPr/>
        </p:nvSpPr>
        <p:spPr>
          <a:xfrm>
            <a:off x="777240" y="3520440"/>
            <a:ext cx="7589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Soal yang disetujui masuk Bank Soal dan langsung dipakai di ujian peserta.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 dan indeks berjalan lokal lewat Ollama, tanpa API berbayar.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/>
          </p:nvPr>
        </p:nvSpPr>
        <p:spPr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Tujuan project</a:t>
            </a:r>
            <a:endParaRPr lang="en-US" sz="3400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2744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Kartu tujuan utama"/>
          <p:cNvSpPr/>
          <p:nvPr/>
        </p:nvSpPr>
        <p:spPr>
          <a:xfrm>
            <a:off x="548640" y="1371600"/>
            <a:ext cx="3108960" cy="3108960"/>
          </a:xfrm>
          <a:prstGeom prst="roundRect">
            <a:avLst>
              <a:gd name="adj" fmla="val 2353"/>
            </a:avLst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" name="Label tujuan utama"/>
          <p:cNvSpPr txBox="1"/>
          <p:nvPr/>
        </p:nvSpPr>
        <p:spPr>
          <a:xfrm>
            <a:off x="777240" y="15544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TUJUAN UTAMA</a:t>
            </a:r>
          </a:p>
        </p:txBody>
      </p:sp>
      <p:sp>
        <p:nvSpPr>
          <p:cNvPr id="5" name="Isi tujuan utama"/>
          <p:cNvSpPr txBox="1"/>
          <p:nvPr/>
        </p:nvSpPr>
        <p:spPr>
          <a:xfrm>
            <a:off x="777240" y="1920240"/>
            <a:ext cx="2651760" cy="1911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Membuat modul yang menyusun soal ujian teori berkendara otomatis dari dokumen peraturan, lengkap dengan kunci, penjelasan, dan sitasi sumber, lalu menyambungkannya ke sistem ujian IMKP.</a:t>
            </a:r>
          </a:p>
        </p:txBody>
      </p:sp>
      <p:sp>
        <p:nvSpPr>
          <p:cNvPr id="6" name="Kartu tujuan khusus 1"/>
          <p:cNvSpPr/>
          <p:nvPr/>
        </p:nvSpPr>
        <p:spPr>
          <a:xfrm>
            <a:off x="3931920" y="1371600"/>
            <a:ext cx="4663440" cy="694944"/>
          </a:xfrm>
          <a:prstGeom prst="roundRect">
            <a:avLst>
              <a:gd name="adj" fmla="val 10526"/>
            </a:avLst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Nomor tujuan 1"/>
          <p:cNvSpPr txBox="1"/>
          <p:nvPr/>
        </p:nvSpPr>
        <p:spPr>
          <a:xfrm>
            <a:off x="4114800" y="1536192"/>
            <a:ext cx="365760" cy="36576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Isi tujuan khusus 1"/>
          <p:cNvSpPr txBox="1"/>
          <p:nvPr/>
        </p:nvSpPr>
        <p:spPr>
          <a:xfrm>
            <a:off x="4617720" y="1417320"/>
            <a:ext cx="3840480" cy="60350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Mengelola dokumen peraturan: unggah, ekstrak teks, chunking, embedding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Kartu tujuan khusus 2"/>
          <p:cNvSpPr/>
          <p:nvPr/>
        </p:nvSpPr>
        <p:spPr>
          <a:xfrm>
            <a:off x="3931920" y="2176272"/>
            <a:ext cx="4663440" cy="694944"/>
          </a:xfrm>
          <a:prstGeom prst="roundRect">
            <a:avLst>
              <a:gd name="adj" fmla="val 10526"/>
            </a:avLst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Nomor tujuan 2"/>
          <p:cNvSpPr txBox="1"/>
          <p:nvPr/>
        </p:nvSpPr>
        <p:spPr>
          <a:xfrm>
            <a:off x="4114800" y="2340864"/>
            <a:ext cx="365760" cy="36576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Isi tujuan khusus 2"/>
          <p:cNvSpPr txBox="1"/>
          <p:nvPr/>
        </p:nvSpPr>
        <p:spPr>
          <a:xfrm>
            <a:off x="4617720" y="2221992"/>
            <a:ext cx="3840480" cy="60350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Membuat soal berbasis RAG yang disertai sitasi sumber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Kartu tujuan khusus 3"/>
          <p:cNvSpPr/>
          <p:nvPr/>
        </p:nvSpPr>
        <p:spPr>
          <a:xfrm>
            <a:off x="3931920" y="2980944"/>
            <a:ext cx="4663440" cy="694944"/>
          </a:xfrm>
          <a:prstGeom prst="roundRect">
            <a:avLst>
              <a:gd name="adj" fmla="val 10526"/>
            </a:avLst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Nomor tujuan 3"/>
          <p:cNvSpPr txBox="1"/>
          <p:nvPr/>
        </p:nvSpPr>
        <p:spPr>
          <a:xfrm>
            <a:off x="4114800" y="3145536"/>
            <a:ext cx="365760" cy="36576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Isi tujuan khusus 3"/>
          <p:cNvSpPr txBox="1"/>
          <p:nvPr/>
        </p:nvSpPr>
        <p:spPr>
          <a:xfrm>
            <a:off x="4617720" y="3026664"/>
            <a:ext cx="3840480" cy="60350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Cek otomatis dan review manusia sampai soal masuk Bank Soal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Kartu tujuan khusus 4"/>
          <p:cNvSpPr/>
          <p:nvPr/>
        </p:nvSpPr>
        <p:spPr>
          <a:xfrm>
            <a:off x="3931920" y="3785616"/>
            <a:ext cx="4663440" cy="694944"/>
          </a:xfrm>
          <a:prstGeom prst="roundRect">
            <a:avLst>
              <a:gd name="adj" fmla="val 10526"/>
            </a:avLst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Nomor tujuan 4"/>
          <p:cNvSpPr txBox="1"/>
          <p:nvPr/>
        </p:nvSpPr>
        <p:spPr>
          <a:xfrm>
            <a:off x="4114800" y="3950208"/>
            <a:ext cx="365760" cy="36576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Isi tujuan khusus 4"/>
          <p:cNvSpPr txBox="1"/>
          <p:nvPr/>
        </p:nvSpPr>
        <p:spPr>
          <a:xfrm>
            <a:off x="4617720" y="3831336"/>
            <a:ext cx="3840480" cy="60350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Menghubungkan Bank Soal ke sesi ujian peserta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/>
          </p:nvPr>
        </p:nvSpPr>
        <p:spPr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 stack</a:t>
            </a:r>
            <a:endParaRPr lang="en-US" sz="3400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2744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Kartu teknologi 1"/>
          <p:cNvSpPr/>
          <p:nvPr/>
        </p:nvSpPr>
        <p:spPr>
          <a:xfrm>
            <a:off x="548640" y="1371600"/>
            <a:ext cx="2560320" cy="1463040"/>
          </a:xfrm>
          <a:prstGeom prst="roundRect">
            <a:avLst>
              <a:gd name="adj" fmla="val 5000"/>
            </a:avLst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Nama teknologi 1"/>
          <p:cNvSpPr txBox="1"/>
          <p:nvPr/>
        </p:nvSpPr>
        <p:spPr>
          <a:xfrm>
            <a:off x="731520" y="1508760"/>
            <a:ext cx="2194560" cy="32004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ASP.NET Core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ungsi teknologi 1"/>
          <p:cNvSpPr txBox="1"/>
          <p:nvPr/>
        </p:nvSpPr>
        <p:spPr>
          <a:xfrm>
            <a:off x="731520" y="1901952"/>
            <a:ext cx="2194560" cy="86868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Backend dan antarmuka web sistem IMKP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Kartu teknologi 2"/>
          <p:cNvSpPr/>
          <p:nvPr/>
        </p:nvSpPr>
        <p:spPr>
          <a:xfrm>
            <a:off x="3291840" y="1371600"/>
            <a:ext cx="2560320" cy="1463040"/>
          </a:xfrm>
          <a:prstGeom prst="roundRect">
            <a:avLst>
              <a:gd name="adj" fmla="val 5000"/>
            </a:avLst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Nama teknologi 2"/>
          <p:cNvSpPr txBox="1"/>
          <p:nvPr/>
        </p:nvSpPr>
        <p:spPr>
          <a:xfrm>
            <a:off x="3474720" y="1508760"/>
            <a:ext cx="2194560" cy="32004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SQL Server + EF Core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Fungsi teknologi 2"/>
          <p:cNvSpPr txBox="1"/>
          <p:nvPr/>
        </p:nvSpPr>
        <p:spPr>
          <a:xfrm>
            <a:off x="3474720" y="1901952"/>
            <a:ext cx="2194560" cy="86868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sistem, metadata dokumen, dan Bank Soal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Kartu teknologi 3"/>
          <p:cNvSpPr/>
          <p:nvPr/>
        </p:nvSpPr>
        <p:spPr>
          <a:xfrm>
            <a:off x="6035040" y="1371600"/>
            <a:ext cx="2560320" cy="1463040"/>
          </a:xfrm>
          <a:prstGeom prst="roundRect">
            <a:avLst>
              <a:gd name="adj" fmla="val 5000"/>
            </a:avLst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Nama teknologi 3"/>
          <p:cNvSpPr txBox="1"/>
          <p:nvPr/>
        </p:nvSpPr>
        <p:spPr>
          <a:xfrm>
            <a:off x="6217920" y="1508760"/>
            <a:ext cx="2194560" cy="32004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Ollama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Fungsi teknologi 3"/>
          <p:cNvSpPr txBox="1"/>
          <p:nvPr/>
        </p:nvSpPr>
        <p:spPr>
          <a:xfrm>
            <a:off x="6217920" y="1901952"/>
            <a:ext cx="2194560" cy="86868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LLM dan embedding lokal (mis. qwen2.5:7b), tanpa API berbayar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Kartu teknologi 4"/>
          <p:cNvSpPr/>
          <p:nvPr/>
        </p:nvSpPr>
        <p:spPr>
          <a:xfrm>
            <a:off x="548640" y="3017520"/>
            <a:ext cx="2560320" cy="1463040"/>
          </a:xfrm>
          <a:prstGeom prst="roundRect">
            <a:avLst>
              <a:gd name="adj" fmla="val 5000"/>
            </a:avLst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Nama teknologi 4"/>
          <p:cNvSpPr txBox="1"/>
          <p:nvPr/>
        </p:nvSpPr>
        <p:spPr>
          <a:xfrm>
            <a:off x="731520" y="3154680"/>
            <a:ext cx="2194560" cy="32004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Penyimpanan vektor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Fungsi teknologi 4"/>
          <p:cNvSpPr txBox="1"/>
          <p:nvPr/>
        </p:nvSpPr>
        <p:spPr>
          <a:xfrm>
            <a:off x="731520" y="3547872"/>
            <a:ext cx="2194560" cy="86868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Untuk indeks embedding. Pilihannya diputuskan saat design review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Kartu teknologi 5"/>
          <p:cNvSpPr/>
          <p:nvPr/>
        </p:nvSpPr>
        <p:spPr>
          <a:xfrm>
            <a:off x="3291840" y="3017520"/>
            <a:ext cx="2560320" cy="1463040"/>
          </a:xfrm>
          <a:prstGeom prst="roundRect">
            <a:avLst>
              <a:gd name="adj" fmla="val 5000"/>
            </a:avLst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Nama teknologi 5"/>
          <p:cNvSpPr txBox="1"/>
          <p:nvPr/>
        </p:nvSpPr>
        <p:spPr>
          <a:xfrm>
            <a:off x="3474720" y="3154680"/>
            <a:ext cx="2194560" cy="32004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Library PDF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Fungsi teknologi 5"/>
          <p:cNvSpPr txBox="1"/>
          <p:nvPr/>
        </p:nvSpPr>
        <p:spPr>
          <a:xfrm>
            <a:off x="3474720" y="3547872"/>
            <a:ext cx="2194560" cy="86868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Ekstraksi teks dan chunking. Dipilih saat design review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Kartu teknologi 6"/>
          <p:cNvSpPr/>
          <p:nvPr/>
        </p:nvSpPr>
        <p:spPr>
          <a:xfrm>
            <a:off x="6035040" y="3017520"/>
            <a:ext cx="2560320" cy="1463040"/>
          </a:xfrm>
          <a:prstGeom prst="roundRect">
            <a:avLst>
              <a:gd name="adj" fmla="val 5000"/>
            </a:avLst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Nama teknologi 6"/>
          <p:cNvSpPr txBox="1"/>
          <p:nvPr/>
        </p:nvSpPr>
        <p:spPr>
          <a:xfrm>
            <a:off x="6217920" y="3154680"/>
            <a:ext cx="2194560" cy="32004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 dan GitHub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Fungsi teknologi 6"/>
          <p:cNvSpPr txBox="1"/>
          <p:nvPr/>
        </p:nvSpPr>
        <p:spPr>
          <a:xfrm>
            <a:off x="6217920" y="3547872"/>
            <a:ext cx="2194560" cy="86868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Version control dan kerja bareng antar anggota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/>
          </p:nvPr>
        </p:nvSpPr>
        <p:spPr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Progress sejauh ini</a:t>
            </a:r>
            <a:endParaRPr lang="en-US" sz="3400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2744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Kartu sudah selesai"/>
          <p:cNvSpPr/>
          <p:nvPr/>
        </p:nvSpPr>
        <p:spPr>
          <a:xfrm>
            <a:off x="548640" y="1325880"/>
            <a:ext cx="3931920" cy="2514600"/>
          </a:xfrm>
          <a:prstGeom prst="roundRect">
            <a:avLst>
              <a:gd name="adj" fmla="val 2909"/>
            </a:avLst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Judul selesai"/>
          <p:cNvSpPr txBox="1"/>
          <p:nvPr/>
        </p:nvSpPr>
        <p:spPr>
          <a:xfrm>
            <a:off x="777240" y="1463040"/>
            <a:ext cx="3474720" cy="32004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Sudah selesai</a:t>
            </a:r>
            <a:endParaRPr lang="en-US" sz="1800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Daftar selesai"/>
          <p:cNvSpPr txBox="1"/>
          <p:nvPr/>
        </p:nvSpPr>
        <p:spPr>
          <a:xfrm>
            <a:off x="777240" y="1920240"/>
            <a:ext cx="3474720" cy="18288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Definition Document (2 Okt 2026)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Idea Discovery Canvas: 3 paper dikaji, gap dan ide </a:t>
            </a:r>
            <a:r>
              <a:rPr lang="en-US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dipilih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Kartu berikutnya"/>
          <p:cNvSpPr/>
          <p:nvPr/>
        </p:nvSpPr>
        <p:spPr>
          <a:xfrm>
            <a:off x="4663440" y="1325880"/>
            <a:ext cx="3931920" cy="2514600"/>
          </a:xfrm>
          <a:prstGeom prst="roundRect">
            <a:avLst>
              <a:gd name="adj" fmla="val 2909"/>
            </a:avLst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Judul berikutnya"/>
          <p:cNvSpPr txBox="1"/>
          <p:nvPr/>
        </p:nvSpPr>
        <p:spPr>
          <a:xfrm>
            <a:off x="4892040" y="1463040"/>
            <a:ext cx="3474720" cy="32004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Berikutnya</a:t>
            </a:r>
            <a:endParaRPr lang="en-US" sz="1800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Daftar berikutnya"/>
          <p:cNvSpPr txBox="1"/>
          <p:nvPr/>
        </p:nvSpPr>
        <p:spPr>
          <a:xfrm>
            <a:off x="4892040" y="1920240"/>
            <a:ext cx="3474720" cy="18288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Selaraskan scope dan peran, urus dokumen peraturan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Rancang arsitektur dan skema database modul RAG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Bangun modul dokumen dan generator soal RAG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Milestone 1"/>
          <p:cNvSpPr txBox="1"/>
          <p:nvPr/>
        </p:nvSpPr>
        <p:spPr>
          <a:xfrm>
            <a:off x="548640" y="4023360"/>
            <a:ext cx="1234440" cy="502920"/>
          </a:xfrm>
          <a:prstGeom prst="roundRect">
            <a:avLst>
              <a:gd name="adj" fmla="val 14545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M1 Definisi</a:t>
            </a:r>
            <a:endParaRPr lang="en-US" sz="1200" dirty="0">
              <a:solidFill>
                <a:schemeClr val="accent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Milestone 2"/>
          <p:cNvSpPr txBox="1"/>
          <p:nvPr/>
        </p:nvSpPr>
        <p:spPr>
          <a:xfrm>
            <a:off x="1911096" y="4023360"/>
            <a:ext cx="1234440" cy="502920"/>
          </a:xfrm>
          <a:prstGeom prst="roundRect">
            <a:avLst>
              <a:gd name="adj" fmla="val 14545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M2 Desain</a:t>
            </a:r>
            <a:endParaRPr lang="en-US" sz="1200" dirty="0">
              <a:solidFill>
                <a:schemeClr val="accent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Milestone 3"/>
          <p:cNvSpPr txBox="1"/>
          <p:nvPr/>
        </p:nvSpPr>
        <p:spPr>
          <a:xfrm>
            <a:off x="3273552" y="4023360"/>
            <a:ext cx="1234440" cy="502920"/>
          </a:xfrm>
          <a:prstGeom prst="roundRect">
            <a:avLst>
              <a:gd name="adj" fmla="val 14545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M3 Prototype</a:t>
            </a:r>
            <a:endParaRPr lang="en-US" sz="1200" dirty="0">
              <a:solidFill>
                <a:schemeClr val="accent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Milestone 4"/>
          <p:cNvSpPr txBox="1"/>
          <p:nvPr/>
        </p:nvSpPr>
        <p:spPr>
          <a:xfrm>
            <a:off x="4636008" y="4023360"/>
            <a:ext cx="1234440" cy="502920"/>
          </a:xfrm>
          <a:prstGeom prst="roundRect">
            <a:avLst>
              <a:gd name="adj" fmla="val 14545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M4 Integrasi</a:t>
            </a:r>
            <a:endParaRPr lang="en-US" sz="1200" dirty="0">
              <a:solidFill>
                <a:schemeClr val="accent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Milestone 5"/>
          <p:cNvSpPr txBox="1"/>
          <p:nvPr/>
        </p:nvSpPr>
        <p:spPr>
          <a:xfrm>
            <a:off x="5998464" y="4023360"/>
            <a:ext cx="1234440" cy="502920"/>
          </a:xfrm>
          <a:prstGeom prst="roundRect">
            <a:avLst>
              <a:gd name="adj" fmla="val 14545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M5 Testing</a:t>
            </a:r>
            <a:endParaRPr lang="en-US" sz="1200" dirty="0">
              <a:solidFill>
                <a:schemeClr val="accent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Milestone 6"/>
          <p:cNvSpPr txBox="1"/>
          <p:nvPr/>
        </p:nvSpPr>
        <p:spPr>
          <a:xfrm>
            <a:off x="7360920" y="4023360"/>
            <a:ext cx="1234440" cy="502920"/>
          </a:xfrm>
          <a:prstGeom prst="roundRect">
            <a:avLst>
              <a:gd name="adj" fmla="val 14545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M6 Final</a:t>
            </a:r>
            <a:endParaRPr lang="en-US" sz="1200" dirty="0">
              <a:solidFill>
                <a:schemeClr val="accent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/>
          </p:nvPr>
        </p:nvSpPr>
        <p:spPr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Cara kami mengukur hasil</a:t>
            </a:r>
            <a:endParaRPr lang="en-US" sz="3400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2744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  <p:sp>
        <p:nvSpPr>
          <p:cNvPr id="3" name="Kartu target 1"/>
          <p:cNvSpPr/>
          <p:nvPr/>
        </p:nvSpPr>
        <p:spPr>
          <a:xfrm>
            <a:off x="548640" y="1371600"/>
            <a:ext cx="1828800" cy="2423160"/>
          </a:xfrm>
          <a:prstGeom prst="roundRect">
            <a:avLst>
              <a:gd name="adj" fmla="val 4000"/>
            </a:avLst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Penanda target 1"/>
          <p:cNvSpPr txBox="1"/>
          <p:nvPr/>
        </p:nvSpPr>
        <p:spPr>
          <a:xfrm>
            <a:off x="713232" y="1508760"/>
            <a:ext cx="1554480" cy="2286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minimal</a:t>
            </a:r>
          </a:p>
        </p:txBody>
      </p:sp>
      <p:sp>
        <p:nvSpPr>
          <p:cNvPr id="5" name="Angka target 1"/>
          <p:cNvSpPr txBox="1"/>
          <p:nvPr/>
        </p:nvSpPr>
        <p:spPr>
          <a:xfrm>
            <a:off x="713232" y="1737360"/>
            <a:ext cx="1554480" cy="64008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80%</a:t>
            </a:r>
            <a:endParaRPr lang="en-US" sz="3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Isi target 1"/>
          <p:cNvSpPr txBox="1"/>
          <p:nvPr/>
        </p:nvSpPr>
        <p:spPr>
          <a:xfrm>
            <a:off x="713232" y="2468880"/>
            <a:ext cx="1554480" cy="123444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soal RAG sesuai dokumen, diuji pada </a:t>
            </a:r>
            <a:r>
              <a:rPr lang="id-ID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soal RAG vs </a:t>
            </a:r>
            <a:r>
              <a:rPr lang="id-ID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soal</a:t>
            </a:r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tanpa RAG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Kartu target 2"/>
          <p:cNvSpPr/>
          <p:nvPr/>
        </p:nvSpPr>
        <p:spPr>
          <a:xfrm>
            <a:off x="2621585" y="1371600"/>
            <a:ext cx="1828800" cy="2423160"/>
          </a:xfrm>
          <a:prstGeom prst="roundRect">
            <a:avLst>
              <a:gd name="adj" fmla="val 4000"/>
            </a:avLst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Penanda target 2"/>
          <p:cNvSpPr txBox="1"/>
          <p:nvPr/>
        </p:nvSpPr>
        <p:spPr>
          <a:xfrm>
            <a:off x="2786177" y="1508760"/>
            <a:ext cx="1554480" cy="2286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minimal</a:t>
            </a:r>
          </a:p>
        </p:txBody>
      </p:sp>
      <p:sp>
        <p:nvSpPr>
          <p:cNvPr id="9" name="Angka target 2"/>
          <p:cNvSpPr txBox="1"/>
          <p:nvPr/>
        </p:nvSpPr>
        <p:spPr>
          <a:xfrm>
            <a:off x="2786177" y="1737360"/>
            <a:ext cx="1554480" cy="64008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80%</a:t>
            </a:r>
            <a:endParaRPr lang="en-US" sz="3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Isi target 2"/>
          <p:cNvSpPr txBox="1"/>
          <p:nvPr/>
        </p:nvSpPr>
        <p:spPr>
          <a:xfrm>
            <a:off x="2786177" y="2468880"/>
            <a:ext cx="1554480" cy="123444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precision@5 retrieval pada 20 kueri topik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Kartu target 3"/>
          <p:cNvSpPr/>
          <p:nvPr/>
        </p:nvSpPr>
        <p:spPr>
          <a:xfrm>
            <a:off x="4694530" y="1371600"/>
            <a:ext cx="1828800" cy="2423160"/>
          </a:xfrm>
          <a:prstGeom prst="roundRect">
            <a:avLst>
              <a:gd name="adj" fmla="val 4000"/>
            </a:avLst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Penanda target 3"/>
          <p:cNvSpPr txBox="1"/>
          <p:nvPr/>
        </p:nvSpPr>
        <p:spPr>
          <a:xfrm>
            <a:off x="4859122" y="1508760"/>
            <a:ext cx="1554480" cy="2286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minimal</a:t>
            </a:r>
          </a:p>
        </p:txBody>
      </p:sp>
      <p:sp>
        <p:nvSpPr>
          <p:cNvPr id="13" name="Angka target 3"/>
          <p:cNvSpPr txBox="1"/>
          <p:nvPr/>
        </p:nvSpPr>
        <p:spPr>
          <a:xfrm>
            <a:off x="4859122" y="1737360"/>
            <a:ext cx="1554480" cy="64008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68</a:t>
            </a:r>
            <a:endParaRPr lang="en-US" sz="3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Isi target 3"/>
          <p:cNvSpPr txBox="1"/>
          <p:nvPr/>
        </p:nvSpPr>
        <p:spPr>
          <a:xfrm>
            <a:off x="4859122" y="2468880"/>
            <a:ext cx="1554480" cy="123444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skor SUS dari sedikitnya 3 petugas atau pembimbing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Kartu target 4"/>
          <p:cNvSpPr/>
          <p:nvPr/>
        </p:nvSpPr>
        <p:spPr>
          <a:xfrm>
            <a:off x="6767474" y="1371600"/>
            <a:ext cx="1828800" cy="2423160"/>
          </a:xfrm>
          <a:prstGeom prst="roundRect">
            <a:avLst>
              <a:gd name="adj" fmla="val 4000"/>
            </a:avLst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Penanda target 4"/>
          <p:cNvSpPr txBox="1"/>
          <p:nvPr/>
        </p:nvSpPr>
        <p:spPr>
          <a:xfrm>
            <a:off x="6932066" y="1508760"/>
            <a:ext cx="1554480" cy="2286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maksimal</a:t>
            </a:r>
          </a:p>
        </p:txBody>
      </p:sp>
      <p:sp>
        <p:nvSpPr>
          <p:cNvPr id="17" name="Angka target 4"/>
          <p:cNvSpPr txBox="1"/>
          <p:nvPr/>
        </p:nvSpPr>
        <p:spPr>
          <a:xfrm>
            <a:off x="6932066" y="1737360"/>
            <a:ext cx="1554480" cy="64008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 mnt</a:t>
            </a:r>
            <a:endParaRPr lang="en-US" sz="3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Isi target 4"/>
          <p:cNvSpPr txBox="1"/>
          <p:nvPr/>
        </p:nvSpPr>
        <p:spPr>
          <a:xfrm>
            <a:off x="6932066" y="2468880"/>
            <a:ext cx="1554480" cy="123444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untuk generate 20 soal di perangkat demo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arget tambahan"/>
          <p:cNvSpPr txBox="1"/>
          <p:nvPr/>
        </p:nvSpPr>
        <p:spPr>
          <a:xfrm>
            <a:off x="548640" y="40233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Ditambah: semua soal RAG punya sitasi yang bisa dibuka, dan 10 sesi simulasi ujian berjalan tanpa galat.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2A414B09-83B3-A7A2-CC31-2425C28F9A3B}"/>
              </a:ext>
            </a:extLst>
          </p:cNvPr>
          <p:cNvSpPr>
            <a:spLocks noGrp="1"/>
          </p:cNvSpPr>
          <p:nvPr>
            <p:ph type="title" idx="103"/>
          </p:nvPr>
        </p:nvSpPr>
        <p:spPr>
          <a:xfrm>
            <a:off x="3068320" y="2212340"/>
            <a:ext cx="3007360" cy="518160"/>
          </a:xfrm>
        </p:spPr>
        <p:txBody>
          <a:bodyPr>
            <a:normAutofit fontScale="90000"/>
          </a:bodyPr>
          <a:lstStyle/>
          <a:p>
            <a:r>
              <a:rPr lang="id-ID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 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Violet">
      <a:dk1>
        <a:sysClr val="windowText" lastClr="000000"/>
      </a:dk1>
      <a:lt1>
        <a:sysClr val="window" lastClr="FFFFFF"/>
      </a:lt1>
      <a:dk2>
        <a:srgbClr val="373545"/>
      </a:dk2>
      <a:lt2>
        <a:srgbClr val="DCD8DC"/>
      </a:lt2>
      <a:accent1>
        <a:srgbClr val="AD84C6"/>
      </a:accent1>
      <a:accent2>
        <a:srgbClr val="8784C7"/>
      </a:accent2>
      <a:accent3>
        <a:srgbClr val="5D739A"/>
      </a:accent3>
      <a:accent4>
        <a:srgbClr val="6997AF"/>
      </a:accent4>
      <a:accent5>
        <a:srgbClr val="84ACB6"/>
      </a:accent5>
      <a:accent6>
        <a:srgbClr val="6F8183"/>
      </a:accent6>
      <a:hlink>
        <a:srgbClr val="69A020"/>
      </a:hlink>
      <a:folHlink>
        <a:srgbClr val="8C8C8C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33</TotalTime>
  <Words>711</Words>
  <Application>Microsoft Office PowerPoint</Application>
  <PresentationFormat>On-screen Show (16:9)</PresentationFormat>
  <Paragraphs>119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Times New Roman</vt:lpstr>
      <vt:lpstr>Trebuchet MS</vt:lpstr>
      <vt:lpstr>Wingdings 3</vt:lpstr>
      <vt:lpstr>Facet</vt:lpstr>
      <vt:lpstr>Generator Soal Ujian Teori Berkendara dengan LLM dan RAG</vt:lpstr>
      <vt:lpstr>Latar belakang</vt:lpstr>
      <vt:lpstr>Masalah di bank soal</vt:lpstr>
      <vt:lpstr>Solusi: soal dari peraturan</vt:lpstr>
      <vt:lpstr>Tujuan project</vt:lpstr>
      <vt:lpstr>Tech stack</vt:lpstr>
      <vt:lpstr>Progress sejauh ini</vt:lpstr>
      <vt:lpstr>Cara kami mengukur hasil</vt:lpstr>
      <vt:lpstr>THANK YOU !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Pitch Capstone Kelompok 14</dc:title>
  <dc:subject>PptxGenJS Presentation</dc:subject>
  <dc:creator>Kelompok 14</dc:creator>
  <cp:lastModifiedBy>TesWindows</cp:lastModifiedBy>
  <cp:revision>2</cp:revision>
  <dcterms:created xsi:type="dcterms:W3CDTF">2026-10-22T13:41:23Z</dcterms:created>
  <dcterms:modified xsi:type="dcterms:W3CDTF">2026-10-22T15:59:18Z</dcterms:modified>
</cp:coreProperties>
</file>